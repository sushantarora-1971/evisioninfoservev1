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640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BF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371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8BDF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7CF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B445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71600"/>
            <a:ext cx="82296" cy="1554480"/>
          </a:xfrm>
          <a:prstGeom prst="rect">
            <a:avLst/>
          </a:prstGeom>
          <a:solidFill>
            <a:srgbClr val="16BFA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DEVELOPMENT BLUEPRINT  · 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691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Evision Infoserve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060704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build-ready website template engineered for </a:t>
            </a:r>
            <a:pPr indent="0" marL="0">
              <a:buNone/>
            </a:pPr>
            <a:r>
              <a:rPr lang="en-US" sz="190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+ AEO + GEO + LLMO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60704" y="3611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31C44"/>
          </a:solidFill>
          <a:ln w="9525">
            <a:solidFill>
              <a:srgbClr val="16BF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5024" y="3886200"/>
            <a:ext cx="566928" cy="566928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095" y="4039271"/>
            <a:ext cx="260787" cy="2607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020824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architecture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020824" y="42428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Pages, templates &amp; CMS rules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3611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31C44"/>
          </a:solidFill>
          <a:ln w="9525">
            <a:solidFill>
              <a:srgbClr val="8B7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0" y="3886200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951" y="4039271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ready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440680" y="42428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&amp; generative engines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900416" y="36118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31C44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74736" y="388620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807" y="4039271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0536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Conversion-built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860536" y="42428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RFQ, chat &amp; WhatsApp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060704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evisioninfoserve.com   ·   Digital Marketing Agency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build is different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just rebuilding a website — we are engineering a digital-marketing-agency platform that ranks on Google and gets cited by AI answer engines. Every page is structured for humans, search crawlers and large language models at once.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82296" cy="1691640"/>
          </a:xfrm>
          <a:prstGeom prst="rect">
            <a:avLst/>
          </a:prstGeom>
          <a:solidFill>
            <a:srgbClr val="16BFA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852928"/>
            <a:ext cx="548640" cy="548640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493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32688" y="39684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Google searches now end without a click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2544" y="260604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52544" y="2606040"/>
            <a:ext cx="82296" cy="169164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5152" y="2852928"/>
            <a:ext cx="548640" cy="548640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3001061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6864" y="3493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layers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645152" y="39684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· AEO · GEO · LLMO optimised together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65008" y="260604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5008" y="2606040"/>
            <a:ext cx="82296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5"/>
          <p:cNvSpPr/>
          <p:nvPr/>
        </p:nvSpPr>
        <p:spPr>
          <a:xfrm>
            <a:off x="8357616" y="2852928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749" y="3001061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9328" y="34930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H1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357616" y="39684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page + clean H2–H6 heading hierarchy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572000"/>
            <a:ext cx="10908792" cy="1691640"/>
          </a:xfrm>
          <a:prstGeom prst="roundRect">
            <a:avLst>
              <a:gd name="adj" fmla="val 4865"/>
            </a:avLst>
          </a:prstGeom>
          <a:solidFill>
            <a:srgbClr val="0B1230"/>
          </a:solidFill>
          <a:ln/>
        </p:spPr>
      </p:sp>
      <p:sp>
        <p:nvSpPr>
          <p:cNvPr id="24" name="Shape 19"/>
          <p:cNvSpPr/>
          <p:nvPr/>
        </p:nvSpPr>
        <p:spPr>
          <a:xfrm>
            <a:off x="914400" y="4864608"/>
            <a:ext cx="548640" cy="548640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5012741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8828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benchmarks for look, depth &amp; structure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440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techmagnate.com — service depth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26364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akswebsoft.com — RFQ flow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1440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aerobusinesssolutions.com — pricing tiers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26364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rankontechnologies.com — SEO packages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site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navigation, service silos and conversion pages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3611880" cy="713232"/>
          </a:xfrm>
          <a:prstGeom prst="rect">
            <a:avLst/>
          </a:prstGeom>
          <a:solidFill>
            <a:srgbClr val="16BFA6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20756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392" y="2189256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20756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pages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2798064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Digital Marketing Agency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/ Case Studies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Clients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 &amp; Reviews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52544" y="19202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52544" y="1920240"/>
            <a:ext cx="3611880" cy="713232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0288" y="20756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856" y="2189256"/>
            <a:ext cx="193487" cy="1934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2352" y="20756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hub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45152" y="2798064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Services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(AI · LLMO · Technical · Local…)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 — Social Media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— Paid Campaigns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— Reputation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Digital Marketing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· YouTube · Email · App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65008" y="19202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5008" y="1920240"/>
            <a:ext cx="3611880" cy="7132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5"/>
          <p:cNvSpPr/>
          <p:nvPr/>
        </p:nvSpPr>
        <p:spPr>
          <a:xfrm>
            <a:off x="8302752" y="20756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320" y="2189256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14816" y="20756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&amp; comply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57616" y="2798064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/ Packages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for Quotation (RFQ)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Quote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(with editable slugs)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section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404 page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· Refund · Terms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SPEC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build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 CMS, UX and technical features baked into the template from day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13432"/>
            <a:ext cx="566928" cy="566928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83" y="2466503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content blocks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6968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content updates on every page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8144" y="2057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2313432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247" y="246650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slugs &amp; internal linking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85032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URLs + page-to-page link control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6208" y="2057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2313432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311" y="2466503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3096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responsive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83096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layouts across all breakpoints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34272" y="2057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0304" y="2313432"/>
            <a:ext cx="566928" cy="566928"/>
          </a:xfrm>
          <a:prstGeom prst="ellipse">
            <a:avLst/>
          </a:prstGeom>
          <a:solidFill>
            <a:srgbClr val="0E8E7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375" y="2466503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hierarchy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81160" y="3392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 per page, ordered H2–H6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405079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" y="4306824"/>
            <a:ext cx="566928" cy="566928"/>
          </a:xfrm>
          <a:prstGeom prst="ellipse">
            <a:avLst/>
          </a:prstGeom>
          <a:solidFill>
            <a:srgbClr val="F6B44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83" y="4459895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6968" y="4965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&amp; Blog modules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86968" y="5385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FAQ blocks + full blog engine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38144" y="405079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94176" y="4306824"/>
            <a:ext cx="566928" cy="566928"/>
          </a:xfrm>
          <a:prstGeom prst="ellipse">
            <a:avLst/>
          </a:prstGeom>
          <a:solidFill>
            <a:srgbClr val="EF6F6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247" y="4459895"/>
            <a:ext cx="260787" cy="26078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85032" y="4965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404 page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685032" y="5385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recovery + smart redirects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36208" y="405079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92240" y="4306824"/>
            <a:ext cx="566928" cy="566928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311" y="4459895"/>
            <a:ext cx="260787" cy="26078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83096" y="4965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+ WhatsApp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483096" y="5385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 &amp; instant chat CTAs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034272" y="4050792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290304" y="4306824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3375" y="4459895"/>
            <a:ext cx="260787" cy="26078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81160" y="4965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+ RFQ pages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281160" y="5385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packages &amp; quote requests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page-template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master templates power the whole site. Build once, reuse everywhere — each ships with its own SEO &amp; schema rules.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08792" cy="758952"/>
          </a:xfrm>
          <a:prstGeom prst="roundRect">
            <a:avLst>
              <a:gd name="adj" fmla="val 8434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73152" cy="758952"/>
          </a:xfrm>
          <a:prstGeom prst="rect">
            <a:avLst/>
          </a:prstGeom>
          <a:solidFill>
            <a:srgbClr val="16BFA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49424"/>
            <a:ext cx="457200" cy="457200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372868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396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template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840480" y="21396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· services overview · proof · CTA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03920" y="21396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+ WebSite schema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0908792" cy="758952"/>
          </a:xfrm>
          <a:prstGeom prst="roundRect">
            <a:avLst>
              <a:gd name="adj" fmla="val 8434"/>
            </a:avLst>
          </a:prstGeom>
          <a:solidFill>
            <a:srgbClr val="F4F7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953512"/>
            <a:ext cx="73152" cy="758952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3099816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3223260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29900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template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840480" y="29900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direct answer · FAQ · related links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503920" y="29900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FAQPage schema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3803904"/>
            <a:ext cx="10908792" cy="758952"/>
          </a:xfrm>
          <a:prstGeom prst="roundRect">
            <a:avLst>
              <a:gd name="adj" fmla="val 8434"/>
            </a:avLst>
          </a:prstGeom>
          <a:solidFill>
            <a:srgbClr val="F4F7FC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" y="3803904"/>
            <a:ext cx="73152" cy="7589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Shape 17"/>
          <p:cNvSpPr/>
          <p:nvPr/>
        </p:nvSpPr>
        <p:spPr>
          <a:xfrm>
            <a:off x="868680" y="3950208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073652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/ article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3840480" y="3840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· TOC · FAQ · key-takeaways box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50392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+ Person schema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0080" y="4654296"/>
            <a:ext cx="10908792" cy="758952"/>
          </a:xfrm>
          <a:prstGeom prst="roundRect">
            <a:avLst>
              <a:gd name="adj" fmla="val 8434"/>
            </a:avLst>
          </a:prstGeom>
          <a:solidFill>
            <a:srgbClr val="F4F7FC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080" y="4654296"/>
            <a:ext cx="73152" cy="758952"/>
          </a:xfrm>
          <a:prstGeom prst="rect">
            <a:avLst/>
          </a:prstGeom>
          <a:solidFill>
            <a:srgbClr val="F6B445"/>
          </a:solidFill>
          <a:ln/>
        </p:spPr>
      </p:sp>
      <p:sp>
        <p:nvSpPr>
          <p:cNvPr id="28" name="Shape 23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F6B445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924044"/>
            <a:ext cx="210312" cy="2103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63040" y="46908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/ packages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3840480" y="46908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cards · comparison · CTA to RFQ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503920" y="4690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B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+ Product schema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40080" y="5504688"/>
            <a:ext cx="10908792" cy="758952"/>
          </a:xfrm>
          <a:prstGeom prst="roundRect">
            <a:avLst>
              <a:gd name="adj" fmla="val 8434"/>
            </a:avLst>
          </a:prstGeom>
          <a:solidFill>
            <a:srgbClr val="F4F7FC"/>
          </a:solidFill>
          <a:ln/>
        </p:spPr>
      </p:sp>
      <p:sp>
        <p:nvSpPr>
          <p:cNvPr id="34" name="Shape 28"/>
          <p:cNvSpPr/>
          <p:nvPr/>
        </p:nvSpPr>
        <p:spPr>
          <a:xfrm>
            <a:off x="640080" y="5504688"/>
            <a:ext cx="73152" cy="758952"/>
          </a:xfrm>
          <a:prstGeom prst="rect">
            <a:avLst/>
          </a:prstGeom>
          <a:solidFill>
            <a:srgbClr val="0E8E7C"/>
          </a:solidFill>
          <a:ln/>
        </p:spPr>
      </p:sp>
      <p:sp>
        <p:nvSpPr>
          <p:cNvPr id="35" name="Shape 29"/>
          <p:cNvSpPr/>
          <p:nvPr/>
        </p:nvSpPr>
        <p:spPr>
          <a:xfrm>
            <a:off x="868680" y="5650992"/>
            <a:ext cx="457200" cy="457200"/>
          </a:xfrm>
          <a:prstGeom prst="ellipse">
            <a:avLst/>
          </a:prstGeom>
          <a:solidFill>
            <a:srgbClr val="0E8E7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774436"/>
            <a:ext cx="210312" cy="2103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63040" y="554126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/ RFQ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3840480" y="55412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form · WhatsApp · map · trust signals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8503920" y="554126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LocalBusiness + ContactPoint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service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highest-value, most-repeated template — structured so Google ranks it and AI engines quote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94360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9456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16BFA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945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03120" y="205740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keyword-rich H1 (e.g. “Technical SEO Services”)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94360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01752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8B7CF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0175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03120" y="288036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 word direct answer in the first paragraph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94360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84048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8404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03120" y="370332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H3 sub-sections, scannable &amp; entity-rich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594360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66344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6B44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6634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03120" y="452628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Q&amp;As with FAQPage schema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5943600" cy="713232"/>
          </a:xfrm>
          <a:prstGeom prst="roundRect">
            <a:avLst>
              <a:gd name="adj" fmla="val 7692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48640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0E8E7C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54864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03120" y="534924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link · RFQ · WhatsApp · chatbot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2057400"/>
            <a:ext cx="4645152" cy="4114800"/>
          </a:xfrm>
          <a:prstGeom prst="roundRect">
            <a:avLst>
              <a:gd name="adj" fmla="val 1778"/>
            </a:avLst>
          </a:prstGeom>
          <a:solidFill>
            <a:srgbClr val="0B1230"/>
          </a:solidFill>
          <a:ln/>
        </p:spPr>
      </p:sp>
      <p:sp>
        <p:nvSpPr>
          <p:cNvPr id="26" name="Shape 24"/>
          <p:cNvSpPr/>
          <p:nvPr/>
        </p:nvSpPr>
        <p:spPr>
          <a:xfrm>
            <a:off x="7178040" y="2286000"/>
            <a:ext cx="502920" cy="502920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3828" y="2421788"/>
            <a:ext cx="231343" cy="23134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2400" y="2304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signals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69480" y="2971800"/>
            <a:ext cx="4114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title tag + meta description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slug, e.g. /services/technical-seo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JSON-LD: Service + FAQPage + Breadcrumb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contextual internal links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Graph + Twitter card tags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alt text + lazy loading</a:t>
            </a:r>
            <a:endParaRPr lang="en-US" sz="1200" dirty="0"/>
          </a:p>
          <a:p>
            <a:pPr marL="203200" indent="-2032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last-updated date for freshness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07792"/>
            <a:ext cx="12188952" cy="12802"/>
          </a:xfrm>
          <a:prstGeom prst="rect">
            <a:avLst/>
          </a:prstGeom>
          <a:solidFill>
            <a:srgbClr val="16BF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OPTIMISATION PLAYBOOK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SEO to AI Search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pPr indent="0" marL="0">
              <a:buNone/>
            </a:pPr>
            <a:r>
              <a:rPr lang="en-US" sz="24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</a:t>
            </a:r>
            <a:pPr indent="0" marL="0">
              <a:buNone/>
            </a:pPr>
            <a:r>
              <a:rPr lang="en-US" sz="24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</a:t>
            </a:r>
            <a:pPr indent="0" marL="0">
              <a:buNone/>
            </a:pPr>
            <a:r>
              <a:rPr lang="en-US" sz="24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make evisioninfoserve.com visible across Google, ChatGPT, Gemini, Perplexity and Google AI Overviews.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layers, one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is no longer just ten blue links. We optimise the same content for four discovery layers — and ~80% of the work overlaps.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2670048" cy="118872"/>
          </a:xfrm>
          <a:prstGeom prst="rect">
            <a:avLst/>
          </a:prstGeom>
          <a:solidFill>
            <a:srgbClr val="0E8E7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487168"/>
            <a:ext cx="658368" cy="658368"/>
          </a:xfrm>
          <a:prstGeom prst="ellipse">
            <a:avLst/>
          </a:prstGeom>
          <a:solidFill>
            <a:srgbClr val="0E8E7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871" y="2664927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8E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96112" y="33101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 Optimization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" y="39136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Crawlable, fast, authoritative pages — the foundation everything else stands 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38144" y="2148840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38144" y="2148840"/>
            <a:ext cx="2670048" cy="118872"/>
          </a:xfrm>
          <a:prstGeom prst="rect">
            <a:avLst/>
          </a:prstGeom>
          <a:solidFill>
            <a:srgbClr val="16BF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694176" y="2487168"/>
            <a:ext cx="658368" cy="658368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35" y="2664927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9704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B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694176" y="33101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Engine Optimization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94176" y="39136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position-zero: featured snippets, voice answers and AI answer boxes.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36208" y="2148840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36208" y="2148840"/>
            <a:ext cx="2670048" cy="1188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Shape 17"/>
          <p:cNvSpPr/>
          <p:nvPr/>
        </p:nvSpPr>
        <p:spPr>
          <a:xfrm>
            <a:off x="6492240" y="2487168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999" y="2664927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87768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6492240" y="33101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Engine Optimization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92240" y="39136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summarised &amp; cited inside AI Overviews, Perplexity and SearchGPT.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034272" y="2148840"/>
            <a:ext cx="2670048" cy="397764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34272" y="2148840"/>
            <a:ext cx="2670048" cy="118872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28" name="Shape 23"/>
          <p:cNvSpPr/>
          <p:nvPr/>
        </p:nvSpPr>
        <p:spPr>
          <a:xfrm>
            <a:off x="9290304" y="2487168"/>
            <a:ext cx="658368" cy="65836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063" y="2664927"/>
            <a:ext cx="302849" cy="30284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085832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7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9290304" y="33101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 Optimization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290304" y="3913632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understood and referenced by ChatGPT, Claude and Gemini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ENGINE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direct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719072" cy="1078992"/>
          </a:xfrm>
          <a:prstGeom prst="roundRect">
            <a:avLst>
              <a:gd name="adj" fmla="val 8475"/>
            </a:avLst>
          </a:prstGeom>
          <a:solidFill>
            <a:srgbClr val="16BFA6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29800" y="457200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for featured snippets, voice search and AI answer boxes — win “position zero”, not just a link.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95728"/>
            <a:ext cx="512064" cy="512064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" y="2533985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4140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9264" y="31089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question in the first 40–60 words of the page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long-tail, question-form keywords (how / what / cost)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dedicated FAQ block to every service &amp; blog page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concise, scannable paragraphs and clear sub-headings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definitions, steps and comparison tables AI can lift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21488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0B1230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395728"/>
            <a:ext cx="512064" cy="512064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2533985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24140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ship 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28816" y="31089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FAQPage + HowTo JSON-LD on relevant templates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“Quick answer” box at the top of each page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Question-based H2/H3 headings mapped to real queries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Speakable schema for voice-assistant readiness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search-intent map kept in the CMS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ENGINE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summarised &amp; cited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719072" cy="1078992"/>
          </a:xfrm>
          <a:prstGeom prst="roundRect">
            <a:avLst>
              <a:gd name="adj" fmla="val 8475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29800" y="457200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citations inside Google AI Overviews, Perplexity and SearchGPT by being the clearest, most trustworthy source.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95728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" y="2533985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4140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9264" y="31089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deep topical authority around each service silo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original data, examples, stats and case studies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entity names (brand, services, locations) consistent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E-E-A-T: authors, credentials, citations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niche, India-specific intents AI training data lacks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21488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0B1230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395728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2533985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24140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ship 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28816" y="31089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clusters: pillar pages + supporting articles, interlinked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bios with Person schema + sameAs profile links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Key-takeaways summary box on long content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“last updated” dates and a real publishing cadence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how ChatGPT / Gemini / Perplexity describe the brand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the machines’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719072" cy="1078992"/>
          </a:xfrm>
          <a:prstGeom prst="roundRect">
            <a:avLst>
              <a:gd name="adj" fmla="val 8475"/>
            </a:avLst>
          </a:prstGeom>
          <a:solidFill>
            <a:srgbClr val="8B7CF6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29800" y="457200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tag content so ChatGPT, Claude and Gemini can parse, trust and reference it accurately.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95728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" y="2533985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4140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9264" y="31089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clean, logical H2/H3 structure on every page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self-contained sections that make sense out of context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facts plainly — brand, services, pricing, location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consistent business info across the whole web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contextual completeness, not keyword stuffing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21488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0B1230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2395728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2533985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24140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ship 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28816" y="310896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JSON-LD: Organization, Service, Article, Person, Breadcrumb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llms.txt file pointing AI bots to your best content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GPTBot, ClaudeBot, PerplexityBot, Google-Extended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render so content is visible without JavaScript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Google Business Profile + directories in sync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SEO for the AI era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clean technicals, GEO and AEO have nothing reliable to ingest. These ship with the build.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585216" cy="585216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489728"/>
            <a:ext cx="269199" cy="269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266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schema everywhere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392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Organization, Service, Article, FAQPage, Person, Breadcrumb, LocalBusiness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2544" y="20574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2331720"/>
            <a:ext cx="585216" cy="585216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872" y="2489728"/>
            <a:ext cx="269199" cy="2691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0266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llms.txt + robots.txt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26864" y="3392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AI crawlers to your best, most citable pages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65008" y="20574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331720"/>
            <a:ext cx="585216" cy="585216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36" y="2489728"/>
            <a:ext cx="269199" cy="2691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0266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crawler access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9328" y="3392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GPTBot, ClaudeBot, PerplexityBot &amp; Google-Extended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389120"/>
            <a:ext cx="585216" cy="585216"/>
          </a:xfrm>
          <a:prstGeom prst="ellipse">
            <a:avLst/>
          </a:prstGeom>
          <a:solidFill>
            <a:srgbClr val="F6B44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08" y="4547128"/>
            <a:ext cx="269199" cy="2691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50840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4400" y="5449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LCP, INP &amp; CLS for ranking and crawl rate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52544" y="41148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26864" y="4389120"/>
            <a:ext cx="585216" cy="585216"/>
          </a:xfrm>
          <a:prstGeom prst="ellipse">
            <a:avLst/>
          </a:prstGeom>
          <a:solidFill>
            <a:srgbClr val="0E8E7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872" y="4547128"/>
            <a:ext cx="269199" cy="26919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26864" y="50840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mobile-first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26864" y="5449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fast, fully responsive — table stakes for trust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65008" y="411480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9328" y="4389120"/>
            <a:ext cx="585216" cy="585216"/>
          </a:xfrm>
          <a:prstGeom prst="ellipse">
            <a:avLst/>
          </a:prstGeom>
          <a:solidFill>
            <a:srgbClr val="EF6F6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336" y="4547128"/>
            <a:ext cx="269199" cy="26919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9328" y="508406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sitemap + clean URLs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39328" y="54498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hierarchical slugs, auto-updating sitemap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STANDARD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Per-page SEO &amp; build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published page must clear this bar before it goes live.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5703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to meet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Headings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Exactly one H1; ordered H2–H6, no skips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 / slug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descriptive, editable, lowercase with hyphens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title (≤60 chars) + description (≤155 chars)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block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40–60 word answer near the top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Relevant JSON-LD (Service / Article / FAQPage / Breadcrumb)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FAQ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 question-form Q&amp;As with FAQPage markup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links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 contextual links to related silo pages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Graph + Twitter card tags 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Compressed images, descriptive alt text, lazy-load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8E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 publish / last-updated date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build that ships SEO foundations first, then layers AI-search optimisation on 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70048" cy="402336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95728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16BFA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CMS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3977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sitemap &amp; templates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CMS: editable content + slugs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system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404 + page linking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2148840"/>
            <a:ext cx="2670048" cy="402336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4176" y="2395728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694176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94176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on-page SEO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30752" y="3977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all service &amp; core pages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One-H1 hierarchy + meta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blocks + blog engine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linking map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2148840"/>
            <a:ext cx="2670048" cy="402336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395728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8B7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AI-search layer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28816" y="3977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across templates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llms.txt + crawler rules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blocks &amp; topic clusters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E-E-A-T author signals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4272" y="2148840"/>
            <a:ext cx="2670048" cy="4023360"/>
          </a:xfrm>
          <a:prstGeom prst="roundRect">
            <a:avLst>
              <a:gd name="adj" fmla="val 308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14300" dist="38100" dir="5400000">
              <a:srgbClr val="0B12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0304" y="2395728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F6B445"/>
          </a:solidFill>
          <a:ln/>
        </p:spPr>
      </p:sp>
      <p:sp>
        <p:nvSpPr>
          <p:cNvPr id="22" name="Text 20"/>
          <p:cNvSpPr/>
          <p:nvPr/>
        </p:nvSpPr>
        <p:spPr>
          <a:xfrm>
            <a:off x="9290304" y="23957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290304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&amp; measure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26880" y="39776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RFQ, chat, WhatsApp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 tuning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AI-visibility monitoring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from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BF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669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48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B7CF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280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6B445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for people first.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for machines always.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well-structured Evision Infoserve site that ranks on Google and gets cited by AI — SEO, AEO, GEO and LLMO working as 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131C44"/>
          </a:solidFill>
          <a:ln w="9525">
            <a:solidFill>
              <a:srgbClr val="16BF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4901184"/>
            <a:ext cx="438912" cy="438912"/>
          </a:xfrm>
          <a:prstGeom prst="ellipse">
            <a:avLst/>
          </a:prstGeom>
          <a:solidFill>
            <a:srgbClr val="16BF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210" y="5019690"/>
            <a:ext cx="201900" cy="20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9344" y="4663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sitemap &amp; templates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43984" y="4663440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131C44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4901184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34" y="5019690"/>
            <a:ext cx="201900" cy="201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0368" y="4663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CMS &amp; schema spec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5008" y="4663440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131C44"/>
          </a:solidFill>
          <a:ln w="9525">
            <a:solidFill>
              <a:srgbClr val="8B7C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02752" y="4901184"/>
            <a:ext cx="438912" cy="438912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258" y="5019690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51392" y="4663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off Phase 1 build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evisioninfoserve.com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Development Blueprint &amp; AI-Search Optimization</dc:title>
  <dc:subject>PptxGenJS Presentation</dc:subject>
  <dc:creator>Evision Infoserve</dc:creator>
  <cp:lastModifiedBy>Evision Infoserve</cp:lastModifiedBy>
  <cp:revision>1</cp:revision>
  <dcterms:created xsi:type="dcterms:W3CDTF">2026-06-01T06:13:14Z</dcterms:created>
  <dcterms:modified xsi:type="dcterms:W3CDTF">2026-06-01T06:13:14Z</dcterms:modified>
</cp:coreProperties>
</file>